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3"/>
    <p:sldId id="262" r:id="rId4"/>
    <p:sldId id="261" r:id="rId5"/>
    <p:sldId id="263" r:id="rId6"/>
    <p:sldId id="259" r:id="rId7"/>
    <p:sldId id="264" r:id="rId8"/>
    <p:sldId id="265" r:id="rId9"/>
  </p:sldIdLst>
  <p:sldSz cx="12192000" cy="6858000"/>
  <p:notesSz cx="6858000" cy="9144000"/>
  <p:embeddedFontLst>
    <p:embeddedFont>
      <p:font typeface="微软雅黑" panose="020B0503020204020204" charset="-122"/>
      <p:regular r:id="rId1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170" y="728980"/>
            <a:ext cx="5400000" cy="540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6000" y="0"/>
            <a:ext cx="60972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</a:rPr>
              <a:t>模块</a:t>
            </a:r>
            <a:r>
              <a:rPr lang="en-US" altLang="zh-CN" sz="1600" b="1">
                <a:solidFill>
                  <a:schemeClr val="tx1"/>
                </a:solidFill>
              </a:rPr>
              <a:t>1</a:t>
            </a:r>
            <a:r>
              <a:rPr lang="zh-CN" altLang="en-US" sz="1600">
                <a:solidFill>
                  <a:schemeClr val="tx1"/>
                </a:solidFill>
              </a:rPr>
              <a:t>（</a:t>
            </a:r>
            <a:r>
              <a:rPr lang="en-US" altLang="zh-CN" sz="1600">
                <a:solidFill>
                  <a:schemeClr val="tx1"/>
                </a:solidFill>
              </a:rPr>
              <a:t>3</a:t>
            </a:r>
            <a:r>
              <a:rPr lang="zh-CN" altLang="en-US" sz="1600">
                <a:solidFill>
                  <a:schemeClr val="tx1"/>
                </a:solidFill>
              </a:rPr>
              <a:t>床</a:t>
            </a:r>
            <a:r>
              <a:rPr lang="en-US" altLang="zh-CN" sz="1600">
                <a:solidFill>
                  <a:schemeClr val="tx1"/>
                </a:solidFill>
              </a:rPr>
              <a:t> </a:t>
            </a:r>
            <a:r>
              <a:rPr lang="zh-CN" altLang="en-US" sz="1600">
                <a:solidFill>
                  <a:schemeClr val="tx1"/>
                </a:solidFill>
              </a:rPr>
              <a:t>舒适型）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特点：独立隔间</a:t>
            </a:r>
            <a:r>
              <a:rPr lang="en-US" altLang="zh-CN" sz="1600">
                <a:solidFill>
                  <a:schemeClr val="tx1"/>
                </a:solidFill>
              </a:rPr>
              <a:t>+</a:t>
            </a:r>
            <a:r>
              <a:rPr lang="zh-CN" altLang="en-US" sz="1600">
                <a:solidFill>
                  <a:schemeClr val="tx1"/>
                </a:solidFill>
              </a:rPr>
              <a:t>公共储物</a:t>
            </a:r>
            <a:r>
              <a:rPr lang="en-US" altLang="zh-CN" sz="1600">
                <a:solidFill>
                  <a:schemeClr val="tx1"/>
                </a:solidFill>
              </a:rPr>
              <a:t>+</a:t>
            </a:r>
            <a:r>
              <a:rPr lang="zh-CN" altLang="en-US" sz="1600">
                <a:solidFill>
                  <a:schemeClr val="tx1"/>
                </a:solidFill>
              </a:rPr>
              <a:t>服务性台面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规则：</a:t>
            </a:r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5662" b="49250"/>
          <a:stretch>
            <a:fillRect/>
          </a:stretch>
        </p:blipFill>
        <p:spPr>
          <a:xfrm>
            <a:off x="6433820" y="2081530"/>
            <a:ext cx="3599815" cy="16230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595745" y="2053590"/>
            <a:ext cx="823595" cy="83883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 w="25400">
            <a:solidFill>
              <a:schemeClr val="accent6">
                <a:lumMod val="75000"/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96000" y="3878580"/>
            <a:ext cx="60972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</a:rPr>
              <a:t>如果</a:t>
            </a:r>
            <a:r>
              <a:rPr lang="en-US" altLang="zh-CN" sz="1200">
                <a:solidFill>
                  <a:schemeClr val="tx1"/>
                </a:solidFill>
              </a:rPr>
              <a:t>8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≤</a:t>
            </a:r>
            <a:r>
              <a:rPr lang="en-US" altLang="zh-CN" sz="1200">
                <a:solidFill>
                  <a:schemeClr val="tx1"/>
                </a:solidFill>
              </a:rPr>
              <a:t>n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≤16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，则为两排，组合单元</a:t>
            </a:r>
            <a:r>
              <a:rPr lang="zh-CN" altLang="en-US" sz="1200" u="sng">
                <a:solidFill>
                  <a:schemeClr val="tx1"/>
                </a:solidFill>
                <a:sym typeface="+mn-ea"/>
              </a:rPr>
              <a:t>纵向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镜像一次，再</a:t>
            </a:r>
            <a:r>
              <a:rPr lang="zh-CN" altLang="en-US" sz="1200" u="sng">
                <a:solidFill>
                  <a:schemeClr val="tx1"/>
                </a:solidFill>
                <a:sym typeface="+mn-ea"/>
              </a:rPr>
              <a:t>横向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镜像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[n/2]-1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次；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595110" y="2053590"/>
            <a:ext cx="824230" cy="1677670"/>
          </a:xfrm>
          <a:prstGeom prst="rect">
            <a:avLst/>
          </a:prstGeom>
          <a:noFill/>
          <a:ln w="28575" cmpd="sng">
            <a:solidFill>
              <a:schemeClr val="accent6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55305" y="4220210"/>
            <a:ext cx="1906270" cy="190627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33820" y="4222750"/>
            <a:ext cx="1906270" cy="190627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6530340" y="4327525"/>
            <a:ext cx="431165" cy="856615"/>
          </a:xfrm>
          <a:prstGeom prst="rect">
            <a:avLst/>
          </a:prstGeom>
          <a:noFill/>
          <a:ln w="12700">
            <a:solidFill>
              <a:schemeClr val="accent6">
                <a:lumMod val="75000"/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392670" y="4327525"/>
            <a:ext cx="2592070" cy="1715770"/>
          </a:xfrm>
          <a:prstGeom prst="rect">
            <a:avLst/>
          </a:prstGeom>
          <a:noFill/>
          <a:ln w="12700">
            <a:solidFill>
              <a:schemeClr val="accent6">
                <a:lumMod val="75000"/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530340" y="5186680"/>
            <a:ext cx="431165" cy="856615"/>
          </a:xfrm>
          <a:prstGeom prst="rect">
            <a:avLst/>
          </a:prstGeom>
          <a:noFill/>
          <a:ln w="12700">
            <a:solidFill>
              <a:schemeClr val="accent6">
                <a:lumMod val="75000"/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088380" y="132207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确定图像（模块）数量</a:t>
            </a:r>
            <a:r>
              <a:rPr lang="en-US" altLang="zh-CN" sz="1200">
                <a:sym typeface="+mn-ea"/>
              </a:rPr>
              <a:t> </a:t>
            </a:r>
            <a:r>
              <a:rPr lang="en-US" altLang="zh-CN" sz="1200" b="1">
                <a:sym typeface="+mn-ea"/>
              </a:rPr>
              <a:t>2n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，（一般不出现奇数个单元，</a:t>
            </a:r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单元镜像后形成组合单元</a:t>
            </a:r>
            <a:r>
              <a:rPr lang="zh-CN" altLang="en-US" sz="1200">
                <a:sym typeface="+mn-ea"/>
              </a:rPr>
              <a:t>）</a:t>
            </a:r>
            <a:endParaRPr lang="zh-CN" altLang="en-US" sz="1200">
              <a:solidFill>
                <a:schemeClr val="tx1"/>
              </a:solidFill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n≤8</a:t>
            </a:r>
            <a:r>
              <a:rPr lang="zh-CN" altLang="en-US" sz="1200">
                <a:sym typeface="+mn-ea"/>
              </a:rPr>
              <a:t>，则为一排，组合单元</a:t>
            </a:r>
            <a:r>
              <a:rPr lang="zh-CN" altLang="en-US" sz="1200" u="sng">
                <a:sym typeface="+mn-ea"/>
              </a:rPr>
              <a:t>横向</a:t>
            </a:r>
            <a:r>
              <a:rPr lang="zh-CN" altLang="en-US" sz="1200">
                <a:sym typeface="+mn-ea"/>
              </a:rPr>
              <a:t>镜像</a:t>
            </a:r>
            <a:r>
              <a:rPr lang="en-US" altLang="zh-CN" sz="1200" b="1">
                <a:sym typeface="+mn-ea"/>
              </a:rPr>
              <a:t>n-1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44210" y="2864485"/>
            <a:ext cx="90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组合单元</a:t>
            </a:r>
            <a:endParaRPr lang="zh-CN" altLang="en-US" sz="12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44210" y="2104390"/>
            <a:ext cx="900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b="1">
                <a:solidFill>
                  <a:schemeClr val="tx1"/>
                </a:solidFill>
                <a:sym typeface="+mn-ea"/>
              </a:rPr>
              <a:t>原单元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096000" y="0"/>
            <a:ext cx="60972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模块</a:t>
            </a:r>
            <a:r>
              <a:rPr lang="en-US" altLang="zh-CN" sz="1600" b="1" dirty="0"/>
              <a:t>2</a:t>
            </a:r>
            <a:r>
              <a:rPr lang="zh-CN" altLang="en-US" sz="1600" dirty="0">
                <a:solidFill>
                  <a:schemeClr val="tx1"/>
                </a:solidFill>
              </a:rPr>
              <a:t>（</a:t>
            </a:r>
            <a:r>
              <a:rPr lang="en-US" altLang="zh-CN" sz="1600" dirty="0"/>
              <a:t>2</a:t>
            </a:r>
            <a:r>
              <a:rPr lang="zh-CN" altLang="en-US" sz="1600" dirty="0">
                <a:solidFill>
                  <a:schemeClr val="tx1"/>
                </a:solidFill>
              </a:rPr>
              <a:t>床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舒适型）</a:t>
            </a:r>
            <a:endParaRPr lang="zh-CN" altLang="en-US" sz="1600" dirty="0">
              <a:solidFill>
                <a:schemeClr val="tx1"/>
              </a:solidFill>
            </a:endParaRPr>
          </a:p>
          <a:p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特点：</a:t>
            </a:r>
            <a:r>
              <a:rPr lang="zh-CN" altLang="en-US" sz="1600" dirty="0"/>
              <a:t> 独立储物</a:t>
            </a:r>
            <a:r>
              <a:rPr lang="en-US" altLang="zh-CN" sz="1600" dirty="0"/>
              <a:t>+</a:t>
            </a:r>
            <a:r>
              <a:rPr lang="zh-CN" altLang="en-US" sz="1600" dirty="0"/>
              <a:t>可活动空间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</a:rPr>
              <a:t>规则：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96000" y="3878580"/>
            <a:ext cx="6097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/>
                </a:solidFill>
              </a:rPr>
              <a:t>如果</a:t>
            </a:r>
            <a:r>
              <a:rPr lang="en-US" altLang="zh-CN" sz="1200" dirty="0"/>
              <a:t>12</a:t>
            </a:r>
            <a:r>
              <a:rPr lang="en-US" altLang="zh-CN" sz="1200" dirty="0">
                <a:solidFill>
                  <a:schemeClr val="tx1"/>
                </a:solidFill>
                <a:sym typeface="+mn-ea"/>
              </a:rPr>
              <a:t>≤</a:t>
            </a:r>
            <a:r>
              <a:rPr lang="en-US" altLang="zh-CN" sz="1200" dirty="0">
                <a:solidFill>
                  <a:schemeClr val="tx1"/>
                </a:solidFill>
              </a:rPr>
              <a:t>n</a:t>
            </a:r>
            <a:r>
              <a:rPr lang="en-US" altLang="zh-CN" sz="1200" dirty="0">
                <a:solidFill>
                  <a:schemeClr val="tx1"/>
                </a:solidFill>
                <a:sym typeface="+mn-ea"/>
              </a:rPr>
              <a:t>≤</a:t>
            </a:r>
            <a:r>
              <a:rPr lang="en-US" altLang="zh-CN" sz="1200" dirty="0">
                <a:sym typeface="+mn-ea"/>
              </a:rPr>
              <a:t>18</a:t>
            </a: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，则为三排，单元纵向镜像两次，再横向镜像</a:t>
            </a:r>
            <a:r>
              <a:rPr lang="en-US" altLang="zh-CN" sz="1200" b="1" dirty="0">
                <a:solidFill>
                  <a:schemeClr val="tx1"/>
                </a:solidFill>
                <a:sym typeface="+mn-ea"/>
              </a:rPr>
              <a:t>[n/3]-1</a:t>
            </a: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次；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sz="1200" dirty="0">
                <a:sym typeface="+mn-ea"/>
              </a:rPr>
              <a:t>如果</a:t>
            </a:r>
            <a:r>
              <a:rPr lang="en-US" altLang="zh-CN" sz="1200" dirty="0">
                <a:sym typeface="+mn-ea"/>
              </a:rPr>
              <a:t>18</a:t>
            </a:r>
            <a:r>
              <a:rPr lang="en-US" altLang="zh-CN" sz="1200" dirty="0">
                <a:sym typeface="+mn-ea"/>
              </a:rPr>
              <a:t>≤</a:t>
            </a:r>
            <a:r>
              <a:rPr lang="en-US" altLang="zh-CN" sz="1200" dirty="0">
                <a:sym typeface="+mn-ea"/>
              </a:rPr>
              <a:t>n</a:t>
            </a:r>
            <a:r>
              <a:rPr lang="en-US" altLang="zh-CN" sz="1200" dirty="0">
                <a:sym typeface="+mn-ea"/>
              </a:rPr>
              <a:t>≤24</a:t>
            </a:r>
            <a:r>
              <a:rPr lang="zh-CN" altLang="en-US" sz="1200" dirty="0">
                <a:sym typeface="+mn-ea"/>
              </a:rPr>
              <a:t>，则为四排，单元纵向镜像三次，再横向镜像</a:t>
            </a:r>
            <a:r>
              <a:rPr lang="en-US" altLang="zh-CN" sz="1200" b="1" dirty="0">
                <a:sym typeface="+mn-ea"/>
              </a:rPr>
              <a:t>[n/4]-1</a:t>
            </a:r>
            <a:r>
              <a:rPr lang="zh-CN" altLang="en-US" sz="1200" dirty="0">
                <a:sym typeface="+mn-ea"/>
              </a:rPr>
              <a:t>次；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088380" y="13220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dirty="0">
                <a:sym typeface="+mn-ea"/>
              </a:rPr>
              <a:t>确定图像（模块）数量</a:t>
            </a:r>
            <a:r>
              <a:rPr lang="en-US" altLang="zh-CN" sz="1200" dirty="0">
                <a:sym typeface="+mn-ea"/>
              </a:rPr>
              <a:t> </a:t>
            </a:r>
            <a:r>
              <a:rPr lang="en-US" altLang="zh-CN" sz="1200" b="1" dirty="0">
                <a:sym typeface="+mn-ea"/>
              </a:rPr>
              <a:t>n</a:t>
            </a:r>
            <a:r>
              <a:rPr lang="en-US" altLang="zh-CN" sz="1200" dirty="0">
                <a:sym typeface="+mn-ea"/>
              </a:rPr>
              <a:t> </a:t>
            </a:r>
            <a:r>
              <a:rPr lang="zh-CN" altLang="en-US" sz="1200" dirty="0">
                <a:sym typeface="+mn-ea"/>
              </a:rPr>
              <a:t>，</a:t>
            </a:r>
            <a:endParaRPr lang="zh-CN" altLang="en-US" sz="1200" dirty="0">
              <a:solidFill>
                <a:schemeClr val="tx1"/>
              </a:solidFill>
            </a:endParaRPr>
          </a:p>
          <a:p>
            <a:r>
              <a:rPr lang="zh-CN" altLang="en-US" sz="1200" dirty="0">
                <a:sym typeface="+mn-ea"/>
              </a:rPr>
              <a:t>如果</a:t>
            </a:r>
            <a:r>
              <a:rPr lang="en-US" altLang="zh-CN" sz="1200" dirty="0">
                <a:sym typeface="+mn-ea"/>
              </a:rPr>
              <a:t>n≤6</a:t>
            </a:r>
            <a:r>
              <a:rPr lang="zh-CN" altLang="en-US" sz="1200" dirty="0">
                <a:sym typeface="+mn-ea"/>
              </a:rPr>
              <a:t>，则为一排，单元横向镜像</a:t>
            </a:r>
            <a:r>
              <a:rPr lang="en-US" altLang="zh-CN" sz="1200" b="1" dirty="0">
                <a:sym typeface="+mn-ea"/>
              </a:rPr>
              <a:t>n-1</a:t>
            </a:r>
            <a:r>
              <a:rPr lang="zh-CN" altLang="en-US" sz="1200" dirty="0">
                <a:sym typeface="+mn-ea"/>
              </a:rPr>
              <a:t>次；</a:t>
            </a:r>
            <a:endParaRPr lang="zh-CN" altLang="en-US" sz="1200" dirty="0">
              <a:sym typeface="+mn-ea"/>
            </a:endParaRPr>
          </a:p>
          <a:p>
            <a:r>
              <a:rPr lang="zh-CN" altLang="en-US" sz="1200" dirty="0">
                <a:sym typeface="+mn-ea"/>
              </a:rPr>
              <a:t>如果</a:t>
            </a:r>
            <a:r>
              <a:rPr lang="en-US" altLang="zh-CN" sz="1200" dirty="0">
                <a:sym typeface="+mn-ea"/>
              </a:rPr>
              <a:t>6</a:t>
            </a:r>
            <a:r>
              <a:rPr lang="en-US" altLang="zh-CN" sz="1200" dirty="0">
                <a:sym typeface="+mn-ea"/>
              </a:rPr>
              <a:t>≤</a:t>
            </a:r>
            <a:r>
              <a:rPr lang="en-US" altLang="zh-CN" sz="1200" dirty="0">
                <a:sym typeface="+mn-ea"/>
              </a:rPr>
              <a:t>n</a:t>
            </a:r>
            <a:r>
              <a:rPr lang="en-US" altLang="zh-CN" sz="1200" dirty="0">
                <a:sym typeface="+mn-ea"/>
              </a:rPr>
              <a:t>≤12</a:t>
            </a:r>
            <a:r>
              <a:rPr lang="zh-CN" altLang="en-US" sz="1200" dirty="0">
                <a:sym typeface="+mn-ea"/>
              </a:rPr>
              <a:t>，则为两排，单元纵向镜像一次，再横向镜像</a:t>
            </a:r>
            <a:r>
              <a:rPr lang="en-US" altLang="zh-CN" sz="1200" b="1" dirty="0">
                <a:sym typeface="+mn-ea"/>
              </a:rPr>
              <a:t>[n/2]-1</a:t>
            </a:r>
            <a:r>
              <a:rPr lang="zh-CN" altLang="en-US" sz="1200" dirty="0">
                <a:sym typeface="+mn-ea"/>
              </a:rPr>
              <a:t>次；</a:t>
            </a:r>
            <a:endParaRPr lang="zh-CN" altLang="en-US" sz="1200" dirty="0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548631"/>
            <a:ext cx="5250147" cy="320720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/>
          <a:srcRect l="1385" b="49670"/>
          <a:stretch>
            <a:fillRect/>
          </a:stretch>
        </p:blipFill>
        <p:spPr>
          <a:xfrm>
            <a:off x="9058160" y="2205723"/>
            <a:ext cx="2868017" cy="170948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/>
          <a:srcRect r="1385" b="49670"/>
          <a:stretch>
            <a:fillRect/>
          </a:stretch>
        </p:blipFill>
        <p:spPr>
          <a:xfrm>
            <a:off x="6217610" y="2204020"/>
            <a:ext cx="2868017" cy="170948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265181" y="2262000"/>
            <a:ext cx="1393228" cy="142003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266255" y="2256067"/>
            <a:ext cx="1392155" cy="73313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 w="12700">
            <a:solidFill>
              <a:schemeClr val="accent6">
                <a:lumMod val="75000"/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815573" y="3601581"/>
            <a:ext cx="977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可活动空间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531" y="4420235"/>
            <a:ext cx="1964419" cy="2294232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2"/>
          <a:srcRect l="1293"/>
          <a:stretch>
            <a:fillRect/>
          </a:stretch>
        </p:blipFill>
        <p:spPr>
          <a:xfrm>
            <a:off x="8213725" y="4420235"/>
            <a:ext cx="1939019" cy="229423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64910" y="2537460"/>
            <a:ext cx="13862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原单元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73165" y="3153410"/>
            <a:ext cx="13862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单元镜像</a:t>
            </a:r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一次</a:t>
            </a:r>
            <a:endParaRPr lang="zh-CN" altLang="en-US" sz="12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17615" y="4464050"/>
            <a:ext cx="926465" cy="173799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96000" y="5429885"/>
            <a:ext cx="13862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单元镜像</a:t>
            </a:r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两次</a:t>
            </a:r>
            <a:endParaRPr lang="zh-CN" altLang="en-US" sz="12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030" y="1989455"/>
            <a:ext cx="4261689" cy="288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6000" y="0"/>
            <a:ext cx="60972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</a:rPr>
              <a:t>模块</a:t>
            </a:r>
            <a:r>
              <a:rPr lang="en-US" altLang="zh-CN" sz="1600" b="1">
                <a:solidFill>
                  <a:schemeClr val="tx1"/>
                </a:solidFill>
              </a:rPr>
              <a:t>3</a:t>
            </a:r>
            <a:r>
              <a:rPr lang="zh-CN" altLang="en-US" sz="1600">
                <a:solidFill>
                  <a:schemeClr val="tx1"/>
                </a:solidFill>
              </a:rPr>
              <a:t>（</a:t>
            </a:r>
            <a:r>
              <a:rPr lang="en-US" altLang="zh-CN" sz="1600">
                <a:solidFill>
                  <a:schemeClr val="tx1"/>
                </a:solidFill>
              </a:rPr>
              <a:t>3</a:t>
            </a:r>
            <a:r>
              <a:rPr lang="zh-CN" altLang="en-US" sz="1600">
                <a:solidFill>
                  <a:schemeClr val="tx1"/>
                </a:solidFill>
              </a:rPr>
              <a:t>床</a:t>
            </a:r>
            <a:r>
              <a:rPr lang="en-US" altLang="zh-CN" sz="1600">
                <a:solidFill>
                  <a:schemeClr val="tx1"/>
                </a:solidFill>
              </a:rPr>
              <a:t> </a:t>
            </a:r>
            <a:r>
              <a:rPr lang="zh-CN" altLang="en-US" sz="1600">
                <a:solidFill>
                  <a:schemeClr val="tx1"/>
                </a:solidFill>
              </a:rPr>
              <a:t>经济型）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特点：利用</a:t>
            </a:r>
            <a:r>
              <a:rPr lang="zh-CN" altLang="en-US" sz="1600">
                <a:solidFill>
                  <a:schemeClr val="tx1"/>
                </a:solidFill>
              </a:rPr>
              <a:t>过道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规则：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088380" y="13220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确定图像（模块）数量</a:t>
            </a:r>
            <a:r>
              <a:rPr lang="en-US" altLang="zh-CN" sz="1200">
                <a:sym typeface="+mn-ea"/>
              </a:rPr>
              <a:t> </a:t>
            </a:r>
            <a:r>
              <a:rPr lang="en-US" altLang="zh-CN" sz="1200" b="1">
                <a:sym typeface="+mn-ea"/>
              </a:rPr>
              <a:t>2n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，（一般不出现奇数个单元</a:t>
            </a:r>
            <a:r>
              <a:rPr lang="zh-CN" altLang="en-US" sz="1200">
                <a:sym typeface="+mn-ea"/>
              </a:rPr>
              <a:t>，</a:t>
            </a:r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单元镜像后形成组合单元</a:t>
            </a:r>
            <a:r>
              <a:rPr lang="zh-CN" altLang="en-US" sz="1200">
                <a:sym typeface="+mn-ea"/>
              </a:rPr>
              <a:t>）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n≤6</a:t>
            </a:r>
            <a:r>
              <a:rPr lang="zh-CN" altLang="en-US" sz="1200">
                <a:sym typeface="+mn-ea"/>
              </a:rPr>
              <a:t>，则为一排，组合单元横向平移</a:t>
            </a:r>
            <a:r>
              <a:rPr lang="en-US" altLang="zh-CN" sz="1200" b="1">
                <a:sym typeface="+mn-ea"/>
              </a:rPr>
              <a:t>n-1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6≤n≤12</a:t>
            </a:r>
            <a:r>
              <a:rPr lang="zh-CN" altLang="en-US" sz="1200">
                <a:sym typeface="+mn-ea"/>
              </a:rPr>
              <a:t>，则为两排，组合单元纵向镜像一次，再横向平移</a:t>
            </a:r>
            <a:r>
              <a:rPr lang="en-US" altLang="zh-CN" sz="1200" b="1">
                <a:sym typeface="+mn-ea"/>
              </a:rPr>
              <a:t>[n/2]-1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330450"/>
            <a:ext cx="6316757" cy="4320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238240" y="2675890"/>
            <a:ext cx="1626235" cy="87947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 w="25400">
            <a:solidFill>
              <a:schemeClr val="accent6">
                <a:lumMod val="75000"/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38240" y="2675890"/>
            <a:ext cx="1626235" cy="181991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273165" y="2977515"/>
            <a:ext cx="15913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原单元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81420" y="3593465"/>
            <a:ext cx="15836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组合单元</a:t>
            </a:r>
            <a:endParaRPr lang="zh-CN" altLang="en-US" sz="12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2265489"/>
            <a:ext cx="4320000" cy="232694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80" y="1945640"/>
            <a:ext cx="3216910" cy="3242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6000" y="0"/>
            <a:ext cx="60972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</a:rPr>
              <a:t>模块</a:t>
            </a:r>
            <a:r>
              <a:rPr lang="en-US" altLang="zh-CN" sz="1600" b="1">
                <a:solidFill>
                  <a:schemeClr val="tx1"/>
                </a:solidFill>
              </a:rPr>
              <a:t>4</a:t>
            </a:r>
            <a:r>
              <a:rPr lang="zh-CN" altLang="en-US" sz="1600">
                <a:solidFill>
                  <a:schemeClr val="tx1"/>
                </a:solidFill>
              </a:rPr>
              <a:t>（</a:t>
            </a:r>
            <a:r>
              <a:rPr lang="en-US" altLang="zh-CN" sz="1600">
                <a:solidFill>
                  <a:schemeClr val="tx1"/>
                </a:solidFill>
              </a:rPr>
              <a:t>2</a:t>
            </a:r>
            <a:r>
              <a:rPr lang="zh-CN" altLang="en-US" sz="1600">
                <a:solidFill>
                  <a:schemeClr val="tx1"/>
                </a:solidFill>
              </a:rPr>
              <a:t>床</a:t>
            </a:r>
            <a:r>
              <a:rPr lang="en-US" altLang="zh-CN" sz="1600">
                <a:solidFill>
                  <a:schemeClr val="tx1"/>
                </a:solidFill>
              </a:rPr>
              <a:t> </a:t>
            </a:r>
            <a:r>
              <a:rPr lang="zh-CN" altLang="en-US" sz="1600">
                <a:solidFill>
                  <a:schemeClr val="tx1"/>
                </a:solidFill>
              </a:rPr>
              <a:t>经济型）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特点：利用</a:t>
            </a:r>
            <a:r>
              <a:rPr lang="zh-CN" altLang="en-US" sz="1600">
                <a:solidFill>
                  <a:schemeClr val="tx1"/>
                </a:solidFill>
              </a:rPr>
              <a:t>过道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规则：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088380" y="132207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确定图像（模块）数量</a:t>
            </a:r>
            <a:r>
              <a:rPr lang="en-US" altLang="zh-CN" sz="1200">
                <a:sym typeface="+mn-ea"/>
              </a:rPr>
              <a:t> </a:t>
            </a:r>
            <a:r>
              <a:rPr lang="en-US" altLang="zh-CN" sz="1200" b="1">
                <a:sym typeface="+mn-ea"/>
              </a:rPr>
              <a:t>2n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，（一般不出现奇数个单元</a:t>
            </a:r>
            <a:r>
              <a:rPr lang="zh-CN" altLang="en-US" sz="1200">
                <a:sym typeface="+mn-ea"/>
              </a:rPr>
              <a:t>，</a:t>
            </a:r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单元镜像后形成组合单元</a:t>
            </a:r>
            <a:r>
              <a:rPr lang="zh-CN" altLang="en-US" sz="1200">
                <a:sym typeface="+mn-ea"/>
              </a:rPr>
              <a:t>）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n≤4</a:t>
            </a:r>
            <a:r>
              <a:rPr lang="zh-CN" altLang="en-US" sz="1200">
                <a:sym typeface="+mn-ea"/>
              </a:rPr>
              <a:t>，则为一排，单元横向平移</a:t>
            </a:r>
            <a:r>
              <a:rPr lang="en-US" altLang="zh-CN" sz="1200" b="1">
                <a:sym typeface="+mn-ea"/>
              </a:rPr>
              <a:t>n-1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49340" y="2022475"/>
            <a:ext cx="1559560" cy="74739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 w="12700">
            <a:solidFill>
              <a:schemeClr val="accent6">
                <a:lumMod val="75000"/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149340" y="2022475"/>
            <a:ext cx="1559560" cy="154622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49704"/>
          <a:stretch>
            <a:fillRect/>
          </a:stretch>
        </p:blipFill>
        <p:spPr>
          <a:xfrm>
            <a:off x="10335895" y="1945640"/>
            <a:ext cx="1617980" cy="3242945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9244330" y="2022475"/>
            <a:ext cx="1102995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244330" y="5119370"/>
            <a:ext cx="1102995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097270" y="553593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4≤n≤8</a:t>
            </a:r>
            <a:r>
              <a:rPr lang="zh-CN" altLang="en-US" sz="1200">
                <a:sym typeface="+mn-ea"/>
              </a:rPr>
              <a:t>，则为两排，新单元纵向镜像一次，再横向平移</a:t>
            </a:r>
            <a:r>
              <a:rPr lang="en-US" altLang="zh-CN" sz="1200" b="1">
                <a:sym typeface="+mn-ea"/>
              </a:rPr>
              <a:t>[n/2]-1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  <a:p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8≤n≤12</a:t>
            </a:r>
            <a:r>
              <a:rPr lang="zh-CN" altLang="en-US" sz="1200">
                <a:sym typeface="+mn-ea"/>
              </a:rPr>
              <a:t>，则为三排，新单元纵向镜像一次，再横向平移</a:t>
            </a:r>
            <a:r>
              <a:rPr lang="en-US" altLang="zh-CN" sz="1200" b="1">
                <a:sym typeface="+mn-ea"/>
              </a:rPr>
              <a:t>[n/3]-1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49340" y="2270760"/>
            <a:ext cx="15595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原单元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57595" y="2886710"/>
            <a:ext cx="155194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组合单元</a:t>
            </a:r>
            <a:endParaRPr lang="zh-CN" altLang="en-US" sz="12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10" y="728980"/>
            <a:ext cx="3927273" cy="540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6000" y="0"/>
            <a:ext cx="60972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</a:rPr>
              <a:t>模块</a:t>
            </a:r>
            <a:r>
              <a:rPr lang="en-US" altLang="zh-CN" sz="1600" b="1">
                <a:solidFill>
                  <a:schemeClr val="tx1"/>
                </a:solidFill>
              </a:rPr>
              <a:t>5</a:t>
            </a:r>
            <a:r>
              <a:rPr lang="zh-CN" altLang="en-US" sz="1600">
                <a:solidFill>
                  <a:schemeClr val="tx1"/>
                </a:solidFill>
              </a:rPr>
              <a:t>（</a:t>
            </a:r>
            <a:r>
              <a:rPr lang="en-US" altLang="zh-CN" sz="1600">
                <a:solidFill>
                  <a:schemeClr val="tx1"/>
                </a:solidFill>
              </a:rPr>
              <a:t>3</a:t>
            </a:r>
            <a:r>
              <a:rPr lang="zh-CN" altLang="en-US" sz="1600">
                <a:solidFill>
                  <a:schemeClr val="tx1"/>
                </a:solidFill>
              </a:rPr>
              <a:t>床</a:t>
            </a:r>
            <a:r>
              <a:rPr lang="en-US" altLang="zh-CN" sz="1600">
                <a:solidFill>
                  <a:schemeClr val="tx1"/>
                </a:solidFill>
              </a:rPr>
              <a:t> </a:t>
            </a:r>
            <a:r>
              <a:rPr lang="zh-CN" altLang="en-US" sz="1600">
                <a:solidFill>
                  <a:schemeClr val="tx1"/>
                </a:solidFill>
              </a:rPr>
              <a:t>均衡</a:t>
            </a:r>
            <a:r>
              <a:rPr lang="zh-CN" altLang="en-US" sz="1600">
                <a:solidFill>
                  <a:schemeClr val="tx1"/>
                </a:solidFill>
              </a:rPr>
              <a:t>型）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特点：公共储物</a:t>
            </a:r>
            <a:r>
              <a:rPr lang="en-US" altLang="zh-CN" sz="1600">
                <a:solidFill>
                  <a:schemeClr val="tx1"/>
                </a:solidFill>
              </a:rPr>
              <a:t>+</a:t>
            </a:r>
            <a:r>
              <a:rPr lang="zh-CN" altLang="en-US" sz="1600">
                <a:solidFill>
                  <a:schemeClr val="tx1"/>
                </a:solidFill>
              </a:rPr>
              <a:t>服务性台面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规则：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088380" y="13220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确定图像（模块）数量</a:t>
            </a:r>
            <a:r>
              <a:rPr lang="en-US" altLang="zh-CN" sz="1200">
                <a:sym typeface="+mn-ea"/>
              </a:rPr>
              <a:t> </a:t>
            </a:r>
            <a:r>
              <a:rPr lang="en-US" altLang="zh-CN" sz="1200" b="1">
                <a:sym typeface="+mn-ea"/>
              </a:rPr>
              <a:t>n </a:t>
            </a:r>
            <a:r>
              <a:rPr lang="zh-CN" altLang="en-US" sz="1200">
                <a:sym typeface="+mn-ea"/>
              </a:rPr>
              <a:t>，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n≤8</a:t>
            </a:r>
            <a:r>
              <a:rPr lang="zh-CN" altLang="en-US" sz="1200">
                <a:sym typeface="+mn-ea"/>
              </a:rPr>
              <a:t>，则为一排，单元横向镜像</a:t>
            </a:r>
            <a:r>
              <a:rPr lang="en-US" altLang="zh-CN" sz="1200" b="1">
                <a:sym typeface="+mn-ea"/>
              </a:rPr>
              <a:t>n-1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8≤</a:t>
            </a:r>
            <a:r>
              <a:rPr lang="en-US" altLang="zh-CN" sz="1200">
                <a:sym typeface="+mn-ea"/>
              </a:rPr>
              <a:t>n≤16</a:t>
            </a:r>
            <a:r>
              <a:rPr lang="zh-CN" altLang="en-US" sz="1200">
                <a:sym typeface="+mn-ea"/>
              </a:rPr>
              <a:t>，则为两排，单元纵向镜像一次，再横向镜像</a:t>
            </a:r>
            <a:r>
              <a:rPr lang="en-US" altLang="zh-CN" sz="1200" b="1">
                <a:sym typeface="+mn-ea"/>
              </a:rPr>
              <a:t>[n/2]-1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28817"/>
          <a:stretch>
            <a:fillRect/>
          </a:stretch>
        </p:blipFill>
        <p:spPr>
          <a:xfrm>
            <a:off x="5852795" y="1914525"/>
            <a:ext cx="2992755" cy="4319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71092"/>
          <a:stretch>
            <a:fillRect/>
          </a:stretch>
        </p:blipFill>
        <p:spPr>
          <a:xfrm>
            <a:off x="10726420" y="1914525"/>
            <a:ext cx="1215390" cy="431990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6209030" y="2268855"/>
            <a:ext cx="4525645" cy="3639185"/>
            <a:chOff x="10174" y="3573"/>
            <a:chExt cx="7127" cy="5731"/>
          </a:xfrm>
        </p:grpSpPr>
        <p:sp>
          <p:nvSpPr>
            <p:cNvPr id="9" name="矩形 8"/>
            <p:cNvSpPr/>
            <p:nvPr/>
          </p:nvSpPr>
          <p:spPr>
            <a:xfrm>
              <a:off x="10174" y="3573"/>
              <a:ext cx="1384" cy="286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 w="28575">
              <a:solidFill>
                <a:schemeClr val="accent6">
                  <a:lumMod val="75000"/>
                  <a:alpha val="50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14326" y="3574"/>
              <a:ext cx="2975" cy="0"/>
            </a:xfrm>
            <a:prstGeom prst="line">
              <a:avLst/>
            </a:prstGeom>
            <a:ln w="12700" cmpd="sng">
              <a:solidFill>
                <a:schemeClr val="tx1">
                  <a:alpha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4313" y="9304"/>
              <a:ext cx="2975" cy="0"/>
            </a:xfrm>
            <a:prstGeom prst="line">
              <a:avLst/>
            </a:prstGeom>
            <a:ln w="12700" cmpd="sng">
              <a:solidFill>
                <a:schemeClr val="tx1">
                  <a:alpha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10174" y="3574"/>
              <a:ext cx="1384" cy="5730"/>
            </a:xfrm>
            <a:prstGeom prst="rect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209030" y="3041015"/>
            <a:ext cx="8794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原单元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9030" y="4665980"/>
            <a:ext cx="8750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单元</a:t>
            </a:r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镜</a:t>
            </a:r>
            <a:endParaRPr lang="zh-CN" altLang="en-US" sz="1200" b="1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pPr algn="ctr"/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像</a:t>
            </a:r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一次</a:t>
            </a:r>
            <a:endParaRPr lang="zh-CN" altLang="en-US" sz="12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615" y="1639755"/>
            <a:ext cx="3600000" cy="34933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6000" y="0"/>
            <a:ext cx="60972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</a:rPr>
              <a:t>模块</a:t>
            </a:r>
            <a:r>
              <a:rPr lang="en-US" altLang="zh-CN" sz="1600" b="1">
                <a:solidFill>
                  <a:schemeClr val="tx1"/>
                </a:solidFill>
              </a:rPr>
              <a:t>6</a:t>
            </a:r>
            <a:r>
              <a:rPr lang="zh-CN" altLang="en-US" sz="1600">
                <a:solidFill>
                  <a:schemeClr val="tx1"/>
                </a:solidFill>
              </a:rPr>
              <a:t>（</a:t>
            </a:r>
            <a:r>
              <a:rPr lang="en-US" altLang="zh-CN" sz="1600">
                <a:solidFill>
                  <a:schemeClr val="tx1"/>
                </a:solidFill>
              </a:rPr>
              <a:t>3</a:t>
            </a:r>
            <a:r>
              <a:rPr lang="zh-CN" altLang="en-US" sz="1600">
                <a:solidFill>
                  <a:schemeClr val="tx1"/>
                </a:solidFill>
              </a:rPr>
              <a:t>床</a:t>
            </a:r>
            <a:r>
              <a:rPr lang="en-US" altLang="zh-CN" sz="1600">
                <a:solidFill>
                  <a:schemeClr val="tx1"/>
                </a:solidFill>
              </a:rPr>
              <a:t> </a:t>
            </a:r>
            <a:r>
              <a:rPr lang="zh-CN" altLang="en-US" sz="1600">
                <a:solidFill>
                  <a:schemeClr val="tx1"/>
                </a:solidFill>
              </a:rPr>
              <a:t>均衡</a:t>
            </a:r>
            <a:r>
              <a:rPr lang="zh-CN" altLang="en-US" sz="1600">
                <a:solidFill>
                  <a:schemeClr val="tx1"/>
                </a:solidFill>
              </a:rPr>
              <a:t>型）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特点：可活动</a:t>
            </a:r>
            <a:r>
              <a:rPr lang="zh-CN" altLang="en-US" sz="1600">
                <a:solidFill>
                  <a:schemeClr val="tx1"/>
                </a:solidFill>
              </a:rPr>
              <a:t>空间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规则：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088380" y="13220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确定图像（模块）数量</a:t>
            </a:r>
            <a:r>
              <a:rPr lang="en-US" altLang="zh-CN" sz="1200" b="1">
                <a:sym typeface="+mn-ea"/>
              </a:rPr>
              <a:t> 2n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，</a:t>
            </a:r>
            <a:r>
              <a:rPr lang="zh-CN" altLang="en-US" sz="1200">
                <a:sym typeface="+mn-ea"/>
              </a:rPr>
              <a:t>（一般不出现奇数个单元，</a:t>
            </a:r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单元镜像后形成组合单元</a:t>
            </a:r>
            <a:r>
              <a:rPr lang="zh-CN" altLang="en-US" sz="1200">
                <a:sym typeface="+mn-ea"/>
              </a:rPr>
              <a:t>）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n≤4</a:t>
            </a:r>
            <a:r>
              <a:rPr lang="zh-CN" altLang="en-US" sz="1200">
                <a:sym typeface="+mn-ea"/>
              </a:rPr>
              <a:t>，则为一排，单元横向镜像</a:t>
            </a:r>
            <a:r>
              <a:rPr lang="en-US" altLang="zh-CN" sz="1200" b="1">
                <a:sym typeface="+mn-ea"/>
              </a:rPr>
              <a:t>2n-1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4≤</a:t>
            </a:r>
            <a:r>
              <a:rPr lang="en-US" altLang="zh-CN" sz="1200">
                <a:sym typeface="+mn-ea"/>
              </a:rPr>
              <a:t>n≤8</a:t>
            </a:r>
            <a:r>
              <a:rPr lang="zh-CN" altLang="en-US" sz="1200">
                <a:sym typeface="+mn-ea"/>
              </a:rPr>
              <a:t>，则为两排，单元纵向镜像一次，再横向镜像</a:t>
            </a:r>
            <a:r>
              <a:rPr lang="en-US" altLang="zh-CN" sz="1200" b="1">
                <a:sym typeface="+mn-ea"/>
              </a:rPr>
              <a:t>n-1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27" y="2634224"/>
            <a:ext cx="4320000" cy="249925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117590" y="2665095"/>
            <a:ext cx="970280" cy="121729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 w="19050">
            <a:solidFill>
              <a:schemeClr val="accent6">
                <a:lumMod val="75000"/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116955" y="2665095"/>
            <a:ext cx="1898015" cy="121793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117590" y="2665095"/>
            <a:ext cx="1898015" cy="2435860"/>
          </a:xfrm>
          <a:prstGeom prst="rect">
            <a:avLst/>
          </a:prstGeom>
          <a:noFill/>
          <a:ln w="28575">
            <a:solidFill>
              <a:schemeClr val="accent6">
                <a:lumMod val="75000"/>
                <a:alpha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120130" y="3153410"/>
            <a:ext cx="96774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原单元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87870" y="3153410"/>
            <a:ext cx="92773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组合单元</a:t>
            </a:r>
            <a:endParaRPr lang="zh-CN" altLang="en-US" sz="12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20130" y="4251325"/>
            <a:ext cx="189547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组合单元</a:t>
            </a:r>
            <a:r>
              <a:rPr lang="zh-CN" altLang="en-US" sz="1200" b="1">
                <a:solidFill>
                  <a:schemeClr val="accent6">
                    <a:lumMod val="75000"/>
                  </a:schemeClr>
                </a:solidFill>
                <a:sym typeface="+mn-ea"/>
              </a:rPr>
              <a:t>镜像一次</a:t>
            </a:r>
            <a:endParaRPr lang="zh-CN" altLang="en-US" sz="1200" b="1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64308" t="25168" r="12126" b="14772"/>
          <a:stretch>
            <a:fillRect/>
          </a:stretch>
        </p:blipFill>
        <p:spPr>
          <a:xfrm>
            <a:off x="644525" y="1699260"/>
            <a:ext cx="2548255" cy="34594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6000" y="0"/>
            <a:ext cx="60972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</a:rPr>
              <a:t>模块</a:t>
            </a:r>
            <a:r>
              <a:rPr lang="en-US" altLang="zh-CN" sz="1600" b="1">
                <a:solidFill>
                  <a:schemeClr val="tx1"/>
                </a:solidFill>
              </a:rPr>
              <a:t>7</a:t>
            </a:r>
            <a:r>
              <a:rPr lang="zh-CN" altLang="en-US" sz="1600">
                <a:solidFill>
                  <a:schemeClr val="tx1"/>
                </a:solidFill>
              </a:rPr>
              <a:t>（</a:t>
            </a:r>
            <a:r>
              <a:rPr lang="en-US" altLang="zh-CN" sz="1600">
                <a:solidFill>
                  <a:schemeClr val="tx1"/>
                </a:solidFill>
              </a:rPr>
              <a:t>4</a:t>
            </a:r>
            <a:r>
              <a:rPr lang="zh-CN" altLang="en-US" sz="1600">
                <a:solidFill>
                  <a:schemeClr val="tx1"/>
                </a:solidFill>
              </a:rPr>
              <a:t>床</a:t>
            </a:r>
            <a:r>
              <a:rPr lang="en-US" altLang="zh-CN" sz="1600">
                <a:solidFill>
                  <a:schemeClr val="tx1"/>
                </a:solidFill>
              </a:rPr>
              <a:t> </a:t>
            </a:r>
            <a:r>
              <a:rPr lang="zh-CN" altLang="en-US" sz="1600">
                <a:solidFill>
                  <a:schemeClr val="tx1"/>
                </a:solidFill>
              </a:rPr>
              <a:t>均衡</a:t>
            </a:r>
            <a:r>
              <a:rPr lang="zh-CN" altLang="en-US" sz="1600">
                <a:solidFill>
                  <a:schemeClr val="tx1"/>
                </a:solidFill>
              </a:rPr>
              <a:t>型）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特点：独立</a:t>
            </a:r>
            <a:r>
              <a:rPr lang="zh-CN" altLang="en-US" sz="1600">
                <a:solidFill>
                  <a:schemeClr val="tx1"/>
                </a:solidFill>
              </a:rPr>
              <a:t>储物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规则：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088380" y="132207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确定图像（模块）数量</a:t>
            </a:r>
            <a:r>
              <a:rPr lang="en-US" altLang="zh-CN" sz="1200">
                <a:sym typeface="+mn-ea"/>
              </a:rPr>
              <a:t> </a:t>
            </a:r>
            <a:r>
              <a:rPr lang="en-US" altLang="zh-CN" sz="1200" b="1">
                <a:sym typeface="+mn-ea"/>
              </a:rPr>
              <a:t>n </a:t>
            </a:r>
            <a:r>
              <a:rPr lang="zh-CN" altLang="en-US" sz="1200">
                <a:sym typeface="+mn-ea"/>
              </a:rPr>
              <a:t>，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n≤4</a:t>
            </a:r>
            <a:r>
              <a:rPr lang="zh-CN" altLang="en-US" sz="1200">
                <a:sym typeface="+mn-ea"/>
              </a:rPr>
              <a:t>，则为一列，单元</a:t>
            </a:r>
            <a:r>
              <a:rPr lang="zh-CN" altLang="en-US" sz="1200">
                <a:sym typeface="+mn-ea"/>
              </a:rPr>
              <a:t>纵向镜像</a:t>
            </a:r>
            <a:r>
              <a:rPr lang="en-US" altLang="zh-CN" sz="1200">
                <a:sym typeface="+mn-ea"/>
              </a:rPr>
              <a:t>n-1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4≤n≤8</a:t>
            </a:r>
            <a:r>
              <a:rPr lang="zh-CN" altLang="en-US" sz="1200">
                <a:sym typeface="+mn-ea"/>
              </a:rPr>
              <a:t>，则为两列，单元横向平移一次，再纵向镜像</a:t>
            </a:r>
            <a:r>
              <a:rPr lang="en-US" altLang="zh-CN" sz="1200" b="1">
                <a:sym typeface="+mn-ea"/>
              </a:rPr>
              <a:t>[n/2]</a:t>
            </a:r>
            <a:r>
              <a:rPr lang="en-US" altLang="zh-CN" sz="1200" b="1">
                <a:sym typeface="+mn-ea"/>
              </a:rPr>
              <a:t>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8≤n≤12</a:t>
            </a:r>
            <a:r>
              <a:rPr lang="zh-CN" altLang="en-US" sz="1200">
                <a:sym typeface="+mn-ea"/>
              </a:rPr>
              <a:t>，则为三列，单元横向平移两次，再纵向镜像</a:t>
            </a:r>
            <a:r>
              <a:rPr lang="en-US" altLang="zh-CN" sz="1200" b="1">
                <a:sym typeface="+mn-ea"/>
              </a:rPr>
              <a:t>[n/3]-1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如果</a:t>
            </a:r>
            <a:r>
              <a:rPr lang="en-US" altLang="zh-CN" sz="1200">
                <a:sym typeface="+mn-ea"/>
              </a:rPr>
              <a:t>12≤n≤16</a:t>
            </a:r>
            <a:r>
              <a:rPr lang="zh-CN" altLang="en-US" sz="1200">
                <a:sym typeface="+mn-ea"/>
              </a:rPr>
              <a:t>，则为四列，单元横向平移三次，再纵向镜像</a:t>
            </a:r>
            <a:r>
              <a:rPr lang="en-US" altLang="zh-CN" sz="1200" b="1">
                <a:sym typeface="+mn-ea"/>
              </a:rPr>
              <a:t>[n/4]-1</a:t>
            </a:r>
            <a:r>
              <a:rPr lang="zh-CN" altLang="en-US" sz="1200">
                <a:sym typeface="+mn-ea"/>
              </a:rPr>
              <a:t>次；</a:t>
            </a:r>
            <a:endParaRPr lang="zh-CN" altLang="en-US" sz="1200">
              <a:sym typeface="+mn-ea"/>
            </a:endParaRPr>
          </a:p>
          <a:p>
            <a:endParaRPr lang="zh-CN" altLang="en-US" sz="12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20950"/>
            <a:ext cx="4320000" cy="388342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280150" y="2748280"/>
            <a:ext cx="815340" cy="115125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 w="25400">
            <a:solidFill>
              <a:schemeClr val="accent6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</Words>
  <Application>WPS 演示</Application>
  <PresentationFormat>宽屏</PresentationFormat>
  <Paragraphs>110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方正兰亭黑简体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大头犀</cp:lastModifiedBy>
  <cp:revision>165</cp:revision>
  <dcterms:created xsi:type="dcterms:W3CDTF">2019-06-19T02:08:00Z</dcterms:created>
  <dcterms:modified xsi:type="dcterms:W3CDTF">2025-08-05T04:15:23Z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5254B1B904F64F748AACF6555BB241AF_11</vt:lpwstr>
  </property>
</Properties>
</file>